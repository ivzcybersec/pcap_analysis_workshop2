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a737775-79f5-4040-dc6a-c795afd3a2ef}">
          <p14:sldIdLst>
            <p14:sldId id="256"/>
          </p14:sldIdLst>
        </p14:section>
        <p14:section name="Foundations" id="{72271a1a-085c-4199-d02c-a693a9cf64c6}">
          <p14:sldIdLst>
            <p14:sldId id="257"/>
            <p14:sldId id="258"/>
          </p14:sldIdLst>
        </p14:section>
        <p14:section name="Method" id="{94dafb6c-7d8d-4fd8-f2f8-9d0639c3db2d}">
          <p14:sldIdLst>
            <p14:sldId id="259"/>
            <p14:sldId id="260"/>
          </p14:sldIdLst>
        </p14:section>
        <p14:section name="Practical" id="{9ceb1135-4aa1-f5c1-b926-b2b40a75660c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Workshop 02. Last time we generated traffic with a recon scanner; today we sit on the other side and read traffic as evidence. Run through the four goals for the session. The packet list on the right is a generic illustration, not part of the exercise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two terms briefly. Real-world hook: SOC analysts and incident responders use captures to confirm or rule out what alerts suggest. Stress the last line: a capture is powerful, but it has limits. We'll come back to that when they write their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light: a capture is a recording, and each packet is a set of nested headers. Map the layer stack on the left to the packet details pane on the right; that is exactly what they'll expand in Wireshark. Mention that filters only change the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loop they'll repeat all session. It is rarely linear: each finding raises the next question, so they'll go back to filtering. The bottom row is the plain-English version of the same process. The tools in the boxes are the ones I'll show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Wireshark now. Use a small example capture, not the exercise file, so nothing is spoiled. Walk through the six numbered items in order. Leave the cheat sheet on screen while students set up; every filter here comes from the repo's filter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briefing aloud. That is genuinely all they are told. Point out the stages: work through them in order, and don't assume the first suspicious thing they find is the whole story. Don't confirm or deny any theories during the session; push them back to the packets.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deliverable is a written incident report, not just a verbal answer. Every claim should be traceable to a packet number and timestamp. The evidence table goes at the end of the report. Encourage them to be honest about confidence and limitations: that's what makes a report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checklist before they start. Sell the portfolio angle: a clear, evidence-backed incident report is exactly what employers want to see. Finish with the responsible-use reminder: the capture is fictional and uses documentation IP ranges, and nothing here should be used against real systems. Ask them to write their report before comparing against any reference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CU Title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dae9694-6885-51b0-b2fa-cfe8a25a1d9c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50592" cy="6400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CU Content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dae9694-6885-51b0-b2fa-cfe8a25a1d9c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0871" y="384048"/>
            <a:ext cx="1472184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BCUCompSoc  ·  Cybersecurity Workshop 02  ·  PCAP Analysis &amp; Network Forensics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58368"/>
            <a:ext cx="94183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IvzCyberSec/PCAP_Analysis_Workshop2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548640" y="1600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 WORKSHOP SERIES  ·  02</a:t>
            </a:r>
            <a:endParaRPr lang="en-US" sz="1400" dirty="0"/>
          </a:p>
        </p:txBody>
      </p:sp>
      <p:sp>
        <p:nvSpPr>
          <p:cNvPr id="3" name="Deck title"/>
          <p:cNvSpPr txBox="1"/>
          <p:nvPr/>
        </p:nvSpPr>
        <p:spPr>
          <a:xfrm>
            <a:off x="548640" y="201168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PCAP Analysis &amp;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Network Forensics</a:t>
            </a:r>
            <a:endParaRPr lang="en-US" sz="4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7947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Reading the evidence a network leaves behind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200" dirty="0"/>
          </a:p>
        </p:txBody>
      </p:sp>
      <p:sp>
        <p:nvSpPr>
          <p:cNvPr id="6" name="Objective 1"/>
          <p:cNvSpPr/>
          <p:nvPr/>
        </p:nvSpPr>
        <p:spPr>
          <a:xfrm>
            <a:off x="548640" y="4956048"/>
            <a:ext cx="26060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9560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PCAPs &amp; Wireshark basics</a:t>
            </a:r>
            <a:endParaRPr lang="en-US" sz="1500" dirty="0"/>
          </a:p>
        </p:txBody>
      </p:sp>
      <p:sp>
        <p:nvSpPr>
          <p:cNvPr id="8" name="Objective 2"/>
          <p:cNvSpPr/>
          <p:nvPr/>
        </p:nvSpPr>
        <p:spPr>
          <a:xfrm>
            <a:off x="3355848" y="4956048"/>
            <a:ext cx="26060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49560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investigation workflow</a:t>
            </a:r>
            <a:endParaRPr lang="en-US" sz="1500" dirty="0"/>
          </a:p>
        </p:txBody>
      </p:sp>
      <p:sp>
        <p:nvSpPr>
          <p:cNvPr id="10" name="Objective 3"/>
          <p:cNvSpPr/>
          <p:nvPr/>
        </p:nvSpPr>
        <p:spPr>
          <a:xfrm>
            <a:off x="6163056" y="4956048"/>
            <a:ext cx="26060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49560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Live Wireshark demo</a:t>
            </a:r>
            <a:endParaRPr lang="en-US" sz="1500" dirty="0"/>
          </a:p>
        </p:txBody>
      </p:sp>
      <p:sp>
        <p:nvSpPr>
          <p:cNvPr id="12" name="Objective 4"/>
          <p:cNvSpPr/>
          <p:nvPr/>
        </p:nvSpPr>
        <p:spPr>
          <a:xfrm>
            <a:off x="8970264" y="4956048"/>
            <a:ext cx="26060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53144" y="49560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Start the CompSoc case</a:t>
            </a:r>
            <a:endParaRPr lang="en-US" sz="1500" dirty="0"/>
          </a:p>
        </p:txBody>
      </p:sp>
      <p:sp>
        <p:nvSpPr>
          <p:cNvPr id="14" name="Packet list visual"/>
          <p:cNvSpPr/>
          <p:nvPr/>
        </p:nvSpPr>
        <p:spPr>
          <a:xfrm>
            <a:off x="7086600" y="685800"/>
            <a:ext cx="4556455" cy="36576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7768" y="868680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88936" y="868680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90104" y="868680"/>
            <a:ext cx="118872" cy="118872"/>
          </a:xfrm>
          <a:prstGeom prst="ellipse">
            <a:avLst/>
          </a:prstGeom>
          <a:solidFill>
            <a:srgbClr val="2EE59D"/>
          </a:solidFill>
          <a:ln w="12700">
            <a:solidFill>
              <a:srgbClr val="2EE59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0" y="8138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example.pcap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12344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1234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12344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829800" y="1234440"/>
            <a:ext cx="1676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70992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7099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192.0.2.10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17099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1709928"/>
            <a:ext cx="1676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example.com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21854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21854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192.0.2.10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21854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829800" y="2185416"/>
            <a:ext cx="1676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 → port 80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26609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266090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192.0.2.80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098280" y="26609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829800" y="2660904"/>
            <a:ext cx="1676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SYN, ACK</a:t>
            </a:r>
            <a:endParaRPr lang="en-US" sz="1200" dirty="0"/>
          </a:p>
        </p:txBody>
      </p:sp>
      <p:sp>
        <p:nvSpPr>
          <p:cNvPr id="35" name="Selected packet"/>
          <p:cNvSpPr/>
          <p:nvPr/>
        </p:nvSpPr>
        <p:spPr>
          <a:xfrm>
            <a:off x="7196328" y="3081528"/>
            <a:ext cx="4336999" cy="42062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0" y="31363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31363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192.0.2.10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098280" y="31363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829800" y="3136392"/>
            <a:ext cx="1676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/index.html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0" y="36118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0" y="36118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192.0.2.80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098280" y="36118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829800" y="3611880"/>
            <a:ext cx="1676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 (text/html)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086600" y="4434840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Illustrative traffic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WHY IT MATTERS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leaves a network trail</a:t>
            </a:r>
            <a:endParaRPr lang="en-US" sz="3400" dirty="0"/>
          </a:p>
        </p:txBody>
      </p:sp>
      <p:sp>
        <p:nvSpPr>
          <p:cNvPr id="4" name="Definition 1"/>
          <p:cNvSpPr/>
          <p:nvPr/>
        </p:nvSpPr>
        <p:spPr>
          <a:xfrm>
            <a:off x="548640" y="1737360"/>
            <a:ext cx="51206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Network traffic analysis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91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Examining captured communication to understand what hosts actually did.</a:t>
            </a:r>
            <a:endParaRPr lang="en-US" sz="1600" dirty="0"/>
          </a:p>
        </p:txBody>
      </p:sp>
      <p:sp>
        <p:nvSpPr>
          <p:cNvPr id="7" name="Definition 2"/>
          <p:cNvSpPr/>
          <p:nvPr/>
        </p:nvSpPr>
        <p:spPr>
          <a:xfrm>
            <a:off x="548640" y="3337560"/>
            <a:ext cx="51206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538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Digital forensics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593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Collecting, preserving and interpreting evidence so conclusions stand up to scrutiny.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9202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269480" y="17556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Detect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21214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Spot activity that alerts and logs can miss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09360" y="2807208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99008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69480" y="28254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Reconstruct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269480" y="3191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Rebuild who did what, and in what order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309360" y="3877056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5993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269480" y="38953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Prove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42611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Back every conclusion with packet-level evidence</a:t>
            </a:r>
            <a:endParaRPr lang="en-US" sz="1600" dirty="0"/>
          </a:p>
        </p:txBody>
      </p:sp>
      <p:sp>
        <p:nvSpPr>
          <p:cNvPr id="22" name="Key idea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68680" y="51663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Packets show what crossed the wire.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Server logs show what the system did with it. Strong investigations use both.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FUNDAMENTALS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PCAPs, packets and Wireshark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 packet is a stack of layers</a:t>
            </a:r>
            <a:endParaRPr lang="en-US" sz="1800" dirty="0"/>
          </a:p>
        </p:txBody>
      </p:sp>
      <p:sp>
        <p:nvSpPr>
          <p:cNvPr id="5" name="Layer Ethernet"/>
          <p:cNvSpPr/>
          <p:nvPr/>
        </p:nvSpPr>
        <p:spPr>
          <a:xfrm>
            <a:off x="548640" y="2194560"/>
            <a:ext cx="5120640" cy="585216"/>
          </a:xfrm>
          <a:prstGeom prst="roundRect">
            <a:avLst>
              <a:gd name="adj" fmla="val 9375"/>
            </a:avLst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194560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Ethernet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Frame on the local link</a:t>
            </a:r>
            <a:endParaRPr lang="en-US" sz="1500" dirty="0"/>
          </a:p>
        </p:txBody>
      </p:sp>
      <p:sp>
        <p:nvSpPr>
          <p:cNvPr id="7" name="Layer IP"/>
          <p:cNvSpPr/>
          <p:nvPr/>
        </p:nvSpPr>
        <p:spPr>
          <a:xfrm>
            <a:off x="804672" y="2907792"/>
            <a:ext cx="4608576" cy="585216"/>
          </a:xfrm>
          <a:prstGeom prst="roundRect">
            <a:avLst>
              <a:gd name="adj" fmla="val 9375"/>
            </a:avLst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907792"/>
            <a:ext cx="4334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Who: source → destination</a:t>
            </a:r>
            <a:endParaRPr lang="en-US" sz="1500" dirty="0"/>
          </a:p>
        </p:txBody>
      </p:sp>
      <p:sp>
        <p:nvSpPr>
          <p:cNvPr id="9" name="Layer TCP"/>
          <p:cNvSpPr/>
          <p:nvPr/>
        </p:nvSpPr>
        <p:spPr>
          <a:xfrm>
            <a:off x="1060704" y="3621024"/>
            <a:ext cx="4096512" cy="585216"/>
          </a:xfrm>
          <a:prstGeom prst="roundRect">
            <a:avLst>
              <a:gd name="adj" fmla="val 9375"/>
            </a:avLst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61872" y="3621024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Which conversation: ports, flags</a:t>
            </a:r>
            <a:endParaRPr lang="en-US" sz="1500" dirty="0"/>
          </a:p>
        </p:txBody>
      </p:sp>
      <p:sp>
        <p:nvSpPr>
          <p:cNvPr id="11" name="Layer HTTP"/>
          <p:cNvSpPr/>
          <p:nvPr/>
        </p:nvSpPr>
        <p:spPr>
          <a:xfrm>
            <a:off x="1316736" y="4334256"/>
            <a:ext cx="3584448" cy="585216"/>
          </a:xfrm>
          <a:prstGeom prst="roundRect">
            <a:avLst>
              <a:gd name="adj" fmla="val 9375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17904" y="4334256"/>
            <a:ext cx="3310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What: request / response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663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.pcap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 =  every captured packet + its timestamp, saved so it can be analysed later.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69164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Wireshark: three panes</a:t>
            </a:r>
            <a:endParaRPr lang="en-US" sz="1800" dirty="0"/>
          </a:p>
        </p:txBody>
      </p:sp>
      <p:sp>
        <p:nvSpPr>
          <p:cNvPr id="15" name="Filter bar"/>
          <p:cNvSpPr/>
          <p:nvPr/>
        </p:nvSpPr>
        <p:spPr>
          <a:xfrm>
            <a:off x="6309360" y="2194560"/>
            <a:ext cx="5333695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2194560"/>
            <a:ext cx="4876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</a:t>
            </a:r>
            <a:endParaRPr lang="en-US" sz="1400" dirty="0"/>
          </a:p>
        </p:txBody>
      </p:sp>
      <p:sp>
        <p:nvSpPr>
          <p:cNvPr id="17" name="Pane Packet list"/>
          <p:cNvSpPr/>
          <p:nvPr/>
        </p:nvSpPr>
        <p:spPr>
          <a:xfrm>
            <a:off x="6309360" y="2834640"/>
            <a:ext cx="5333695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2834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Packet list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2834640"/>
            <a:ext cx="2819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One row per packet</a:t>
            </a:r>
            <a:endParaRPr lang="en-US" sz="1500" dirty="0"/>
          </a:p>
        </p:txBody>
      </p:sp>
      <p:sp>
        <p:nvSpPr>
          <p:cNvPr id="20" name="Pane Packet details"/>
          <p:cNvSpPr/>
          <p:nvPr/>
        </p:nvSpPr>
        <p:spPr>
          <a:xfrm>
            <a:off x="6309360" y="3749040"/>
            <a:ext cx="5333695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3749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Packet details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3749040"/>
            <a:ext cx="2819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Expandable headers, layer by layer</a:t>
            </a:r>
            <a:endParaRPr lang="en-US" sz="1500" dirty="0"/>
          </a:p>
        </p:txBody>
      </p:sp>
      <p:sp>
        <p:nvSpPr>
          <p:cNvPr id="23" name="Pane Packet bytes"/>
          <p:cNvSpPr/>
          <p:nvPr/>
        </p:nvSpPr>
        <p:spPr>
          <a:xfrm>
            <a:off x="6309360" y="4663440"/>
            <a:ext cx="5333695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4663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Packet bytes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4663440"/>
            <a:ext cx="2819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Raw hex and ASCII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544068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Tip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Display filters hide packets; they never delete evidence.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THE WORKFLOW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network investigation flows</a:t>
            </a:r>
            <a:endParaRPr lang="en-US" sz="3400" dirty="0"/>
          </a:p>
        </p:txBody>
      </p:sp>
      <p:sp>
        <p:nvSpPr>
          <p:cNvPr id="4" name="Step 1"/>
          <p:cNvSpPr/>
          <p:nvPr/>
        </p:nvSpPr>
        <p:spPr>
          <a:xfrm>
            <a:off x="1028700" y="17830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205740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71700" y="2286000"/>
            <a:ext cx="1001954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2971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1. Filter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0156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Cut the noise down to what matters</a:t>
            </a:r>
            <a:endParaRPr lang="en-US" sz="1500" dirty="0"/>
          </a:p>
        </p:txBody>
      </p:sp>
      <p:sp>
        <p:nvSpPr>
          <p:cNvPr id="9" name="Tool 1"/>
          <p:cNvSpPr/>
          <p:nvPr/>
        </p:nvSpPr>
        <p:spPr>
          <a:xfrm>
            <a:off x="548640" y="420624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420624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ip.addr == &lt;address&gt;</a:t>
            </a:r>
            <a:endParaRPr lang="en-US" sz="1100" dirty="0"/>
          </a:p>
        </p:txBody>
      </p:sp>
      <p:sp>
        <p:nvSpPr>
          <p:cNvPr id="11" name="Step 2"/>
          <p:cNvSpPr/>
          <p:nvPr/>
        </p:nvSpPr>
        <p:spPr>
          <a:xfrm>
            <a:off x="3310814" y="17830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134" y="2057400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53814" y="2286000"/>
            <a:ext cx="1001954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2830754" y="2971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2. Inspect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2830754" y="340156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Expand headers and read the fields</a:t>
            </a:r>
            <a:endParaRPr lang="en-US" sz="1500" dirty="0"/>
          </a:p>
        </p:txBody>
      </p:sp>
      <p:sp>
        <p:nvSpPr>
          <p:cNvPr id="16" name="Tool 2"/>
          <p:cNvSpPr/>
          <p:nvPr/>
        </p:nvSpPr>
        <p:spPr>
          <a:xfrm>
            <a:off x="2830754" y="420624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903906" y="420624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 details pane</a:t>
            </a:r>
            <a:endParaRPr lang="en-US" sz="1100" dirty="0"/>
          </a:p>
        </p:txBody>
      </p:sp>
      <p:sp>
        <p:nvSpPr>
          <p:cNvPr id="18" name="Step 3"/>
          <p:cNvSpPr/>
          <p:nvPr/>
        </p:nvSpPr>
        <p:spPr>
          <a:xfrm>
            <a:off x="5592928" y="17830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2057400"/>
            <a:ext cx="457200" cy="457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735928" y="2286000"/>
            <a:ext cx="1001954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5112868" y="2971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3. Follow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5112868" y="340156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Rebuild the full conversation</a:t>
            </a:r>
            <a:endParaRPr lang="en-US" sz="1500" dirty="0"/>
          </a:p>
        </p:txBody>
      </p:sp>
      <p:sp>
        <p:nvSpPr>
          <p:cNvPr id="23" name="Tool 3"/>
          <p:cNvSpPr/>
          <p:nvPr/>
        </p:nvSpPr>
        <p:spPr>
          <a:xfrm>
            <a:off x="5112868" y="420624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186020" y="420624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→ TCP Stream</a:t>
            </a:r>
            <a:endParaRPr lang="en-US" sz="1100" dirty="0"/>
          </a:p>
        </p:txBody>
      </p:sp>
      <p:sp>
        <p:nvSpPr>
          <p:cNvPr id="25" name="Step 4"/>
          <p:cNvSpPr/>
          <p:nvPr/>
        </p:nvSpPr>
        <p:spPr>
          <a:xfrm>
            <a:off x="7875041" y="17830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361" y="2057400"/>
            <a:ext cx="457200" cy="4572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018041" y="2286000"/>
            <a:ext cx="1001954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  <a:tailEnd type="triangle"/>
          </a:ln>
        </p:spPr>
      </p:sp>
      <p:sp>
        <p:nvSpPr>
          <p:cNvPr id="28" name="Text 22"/>
          <p:cNvSpPr txBox="1"/>
          <p:nvPr/>
        </p:nvSpPr>
        <p:spPr>
          <a:xfrm>
            <a:off x="7394981" y="2971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4. Correlate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7394981" y="340156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Link hosts, times and events</a:t>
            </a:r>
            <a:endParaRPr lang="en-US" sz="1500" dirty="0"/>
          </a:p>
        </p:txBody>
      </p:sp>
      <p:sp>
        <p:nvSpPr>
          <p:cNvPr id="30" name="Tool 4"/>
          <p:cNvSpPr/>
          <p:nvPr/>
        </p:nvSpPr>
        <p:spPr>
          <a:xfrm>
            <a:off x="7394981" y="420624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468133" y="420624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 → Conversations</a:t>
            </a:r>
            <a:endParaRPr lang="en-US" sz="1100" dirty="0"/>
          </a:p>
        </p:txBody>
      </p:sp>
      <p:sp>
        <p:nvSpPr>
          <p:cNvPr id="32" name="Step 5"/>
          <p:cNvSpPr/>
          <p:nvPr/>
        </p:nvSpPr>
        <p:spPr>
          <a:xfrm>
            <a:off x="10157155" y="178308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1475" y="205740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677095" y="2971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5. Document</a:t>
            </a:r>
            <a:endParaRPr lang="en-US" sz="2000" dirty="0"/>
          </a:p>
        </p:txBody>
      </p:sp>
      <p:sp>
        <p:nvSpPr>
          <p:cNvPr id="35" name="Text 28"/>
          <p:cNvSpPr txBox="1"/>
          <p:nvPr/>
        </p:nvSpPr>
        <p:spPr>
          <a:xfrm>
            <a:off x="9677095" y="340156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Packet # + timestamp for every claim</a:t>
            </a:r>
            <a:endParaRPr lang="en-US" sz="1500" dirty="0"/>
          </a:p>
        </p:txBody>
      </p:sp>
      <p:sp>
        <p:nvSpPr>
          <p:cNvPr id="36" name="Tool 5"/>
          <p:cNvSpPr/>
          <p:nvPr/>
        </p:nvSpPr>
        <p:spPr>
          <a:xfrm>
            <a:off x="9677095" y="420624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9750247" y="420624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table</a:t>
            </a:r>
            <a:endParaRPr lang="en-US" sz="1100" dirty="0"/>
          </a:p>
        </p:txBody>
      </p:sp>
      <p:sp>
        <p:nvSpPr>
          <p:cNvPr id="38" name="Questions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822960" y="5120640"/>
            <a:ext cx="2636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Who is talking?</a:t>
            </a:r>
            <a:endParaRPr lang="en-US" sz="1700" dirty="0"/>
          </a:p>
        </p:txBody>
      </p:sp>
      <p:sp>
        <p:nvSpPr>
          <p:cNvPr id="40" name="Text 33"/>
          <p:cNvSpPr txBox="1"/>
          <p:nvPr/>
        </p:nvSpPr>
        <p:spPr>
          <a:xfrm>
            <a:off x="3459404" y="5120640"/>
            <a:ext cx="2636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→  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What did they do?</a:t>
            </a:r>
            <a:endParaRPr lang="en-US" sz="1700" dirty="0"/>
          </a:p>
        </p:txBody>
      </p:sp>
      <p:sp>
        <p:nvSpPr>
          <p:cNvPr id="41" name="Text 34"/>
          <p:cNvSpPr txBox="1"/>
          <p:nvPr/>
        </p:nvSpPr>
        <p:spPr>
          <a:xfrm>
            <a:off x="6095848" y="5120640"/>
            <a:ext cx="2636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→  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 what order?</a:t>
            </a:r>
            <a:endParaRPr lang="en-US" sz="1700" dirty="0"/>
          </a:p>
        </p:txBody>
      </p:sp>
      <p:sp>
        <p:nvSpPr>
          <p:cNvPr id="42" name="Text 35"/>
          <p:cNvSpPr txBox="1"/>
          <p:nvPr/>
        </p:nvSpPr>
        <p:spPr>
          <a:xfrm>
            <a:off x="8732291" y="5120640"/>
            <a:ext cx="2636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→  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What can I prove?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LIVE DEMO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Wireshark in action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to watch for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94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Opening a capture and reading the three panes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980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Applying and combining display filters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4015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Expanding a packet layer by layer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0050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Following a TCP stream from start to finish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608576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6085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Listing hosts with Statistics → Conversations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12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Switching View → Time Display Format</a:t>
            </a:r>
            <a:endParaRPr lang="en-US" sz="1700" dirty="0"/>
          </a:p>
        </p:txBody>
      </p:sp>
      <p:sp>
        <p:nvSpPr>
          <p:cNvPr id="23" name="Filter cheat sheet"/>
          <p:cNvSpPr/>
          <p:nvPr/>
        </p:nvSpPr>
        <p:spPr>
          <a:xfrm>
            <a:off x="6903720" y="1691640"/>
            <a:ext cx="4739335" cy="4343400"/>
          </a:xfrm>
          <a:prstGeom prst="roundRect">
            <a:avLst>
              <a:gd name="adj" fmla="val 1684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19019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11680"/>
            <a:ext cx="164592" cy="16459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708392" y="1901952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Filter cheat sheet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7178040" y="251460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ip.addr == &lt;address&gt;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178040" y="2770632"/>
            <a:ext cx="4190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one host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306324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178040" y="3319272"/>
            <a:ext cx="4190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requests only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178040" y="361188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http.response.code == 404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178040" y="3867912"/>
            <a:ext cx="4190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by status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178040" y="416052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http.request.method == "POST"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178040" y="4416552"/>
            <a:ext cx="4190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POSTs only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178040" y="470916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178040" y="4965192"/>
            <a:ext cx="4190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name lookups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178040" y="525780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tcp.flags.syn==1 &amp;&amp; tcp.flags.ack==0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178040" y="5513832"/>
            <a:ext cx="4190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new connections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THE CASE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case: the CompSoc incident</a:t>
            </a:r>
            <a:endParaRPr lang="en-US" sz="3400" dirty="0"/>
          </a:p>
        </p:txBody>
      </p:sp>
      <p:sp>
        <p:nvSpPr>
          <p:cNvPr id="4" name="Briefing"/>
          <p:cNvSpPr/>
          <p:nvPr/>
        </p:nvSpPr>
        <p:spPr>
          <a:xfrm>
            <a:off x="548640" y="1691640"/>
            <a:ext cx="5943600" cy="26060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01952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901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BRIEFING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Suspicious activity has been detected against the society's web application. Initial observations indicate repeated authentication failures against an administrative interface. A packet capture covering the relevant period has been preserved.</a:t>
            </a:r>
            <a:endParaRPr lang="en-US" sz="1600" dirty="0"/>
          </a:p>
        </p:txBody>
      </p:sp>
      <p:sp>
        <p:nvSpPr>
          <p:cNvPr id="8" name="Your task"/>
          <p:cNvSpPr/>
          <p:nvPr/>
        </p:nvSpPr>
        <p:spPr>
          <a:xfrm>
            <a:off x="548640" y="4480560"/>
            <a:ext cx="5943600" cy="1554480"/>
          </a:xfrm>
          <a:prstGeom prst="roundRect">
            <a:avLst>
              <a:gd name="adj" fmla="val 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TASK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9377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Identify the sequence of events, decide whether administrative access was obtained, and prove it with packet-level evidence.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1691640"/>
            <a:ext cx="47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Evidence file  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compsoc-incident.pcap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132320" y="2377440"/>
            <a:ext cx="0" cy="29718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2194560"/>
            <a:ext cx="45720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219456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Understand the traffic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903720" y="2743200"/>
            <a:ext cx="45720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037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274320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Reconnaissance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903720" y="3291840"/>
            <a:ext cx="45720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037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329184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Authentication activity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903720" y="3840480"/>
            <a:ext cx="45720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037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589520" y="384048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Keep going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903720" y="4389120"/>
            <a:ext cx="45720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037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589520" y="438912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Establish what happened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903720" y="4937760"/>
            <a:ext cx="45720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037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589520" y="493776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Impact and defences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6903720" y="5623560"/>
            <a:ext cx="4739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Fictional scenario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RFC 5737 documentation IPs; simulated traffic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REPORTING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first: your incident report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Every claim gets a row in your evidence table</a:t>
            </a:r>
            <a:endParaRPr lang="en-US" sz="1800" dirty="0"/>
          </a:p>
        </p:txBody>
      </p:sp>
      <p:graphicFrame>
        <p:nvGraphicFramePr>
          <p:cNvPr id="8" name="Evide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3200400"/>
                <a:gridCol w="315468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Packet #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Observation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Interpretation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Confidence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hh:mm:ss.sss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saw in the packet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think it means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/ Med / 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6" name="Why evidence matters"/>
          <p:cNvSpPr/>
          <p:nvPr/>
        </p:nvSpPr>
        <p:spPr>
          <a:xfrm>
            <a:off x="548640" y="3657600"/>
            <a:ext cx="512064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Why evidence matters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434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Anyone can re-check your findings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Separates facts from assumptions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Says what the capture cannot prove</a:t>
            </a:r>
            <a:endParaRPr lang="en-US" sz="1600" dirty="0"/>
          </a:p>
        </p:txBody>
      </p:sp>
      <p:sp>
        <p:nvSpPr>
          <p:cNvPr id="9" name="Report sections"/>
          <p:cNvSpPr/>
          <p:nvPr/>
        </p:nvSpPr>
        <p:spPr>
          <a:xfrm>
            <a:off x="5989320" y="3657600"/>
            <a:ext cx="5653735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6364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Your report covers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4343400"/>
            <a:ext cx="2552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Executive summary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4727448"/>
            <a:ext cx="2552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Scope and methodology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5111496"/>
            <a:ext cx="2552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Hosts and observations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5495544"/>
            <a:ext cx="2552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Findings, stage by stage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16188" y="4343400"/>
            <a:ext cx="2552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Incident timeline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816188" y="4727448"/>
            <a:ext cx="2552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Root cause and impact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16188" y="5111496"/>
            <a:ext cx="2552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Recommendations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816188" y="5495544"/>
            <a:ext cx="2552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YOUR MISSION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Investigate, evidence, publish</a:t>
            </a:r>
            <a:endParaRPr lang="en-US" sz="3400" dirty="0"/>
          </a:p>
        </p:txBody>
      </p:sp>
      <p:sp>
        <p:nvSpPr>
          <p:cNvPr id="4" name="Before you start"/>
          <p:cNvSpPr/>
          <p:nvPr/>
        </p:nvSpPr>
        <p:spPr>
          <a:xfrm>
            <a:off x="548640" y="1691640"/>
            <a:ext cx="3515258" cy="3246120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3852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892808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Before you start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0123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Wireshark installed (4.2.x or 3.6+)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Repo cloned or forked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compsoc-incident.pcap open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Notes ready for packet #s and times</a:t>
            </a:r>
            <a:endParaRPr lang="en-US" sz="1500" dirty="0"/>
          </a:p>
        </p:txBody>
      </p:sp>
      <p:sp>
        <p:nvSpPr>
          <p:cNvPr id="8" name="Make it a portfolio piece"/>
          <p:cNvSpPr/>
          <p:nvPr/>
        </p:nvSpPr>
        <p:spPr>
          <a:xfrm>
            <a:off x="4338218" y="1691640"/>
            <a:ext cx="3515258" cy="3246120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38" y="193852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15458" y="1892808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Make it a portfolio piece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612538" y="2514600"/>
            <a:ext cx="30123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Fork the repo to your GitHub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Write the report in Markdown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Add screenshots of key filters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Explain your method and limits</a:t>
            </a:r>
            <a:endParaRPr lang="en-US" sz="1500" dirty="0"/>
          </a:p>
        </p:txBody>
      </p:sp>
      <p:sp>
        <p:nvSpPr>
          <p:cNvPr id="12" name="Responsible use"/>
          <p:cNvSpPr/>
          <p:nvPr/>
        </p:nvSpPr>
        <p:spPr>
          <a:xfrm>
            <a:off x="8127797" y="1691640"/>
            <a:ext cx="3515258" cy="3246120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17" y="193852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05037" y="1892808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Responsible use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402117" y="2514600"/>
            <a:ext cx="30123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Fictional training traffic only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Never scan, test or capture systems without permission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Write your report before checking any reference answer</a:t>
            </a:r>
            <a:endParaRPr lang="en-US" sz="1500" dirty="0"/>
          </a:p>
        </p:txBody>
      </p:sp>
      <p:sp>
        <p:nvSpPr>
          <p:cNvPr id="16" name="Repository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7667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51663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github.com/IvzCyberSec/PCAP_Analysis_Workshop2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7863840" y="5166360"/>
            <a:ext cx="3459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Questions? Then open Wireshark.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CUCompSoc Cyber">
  <a:themeElements>
    <a:clrScheme name="BCUCompSoc Cyber">
      <a:dk1>
        <a:srgbClr val="0A1222"/>
      </a:dk1>
      <a:lt1>
        <a:srgbClr val="FFFFFF"/>
      </a:lt1>
      <a:dk2>
        <a:srgbClr val="131F36"/>
      </a:dk2>
      <a:lt2>
        <a:srgbClr val="9AA8BF"/>
      </a:lt2>
      <a:accent1>
        <a:srgbClr val="22D3EE"/>
      </a:accent1>
      <a:accent2>
        <a:srgbClr val="2EE59D"/>
      </a:accent2>
      <a:accent3>
        <a:srgbClr val="1C2B48"/>
      </a:accent3>
      <a:accent4>
        <a:srgbClr val="FBBF24"/>
      </a:accent4>
      <a:accent5>
        <a:srgbClr val="4F7CFF"/>
      </a:accent5>
      <a:accent6>
        <a:srgbClr val="F87171"/>
      </a:accent6>
      <a:hlink>
        <a:srgbClr val="22D3EE"/>
      </a:hlink>
      <a:folHlink>
        <a:srgbClr val="2EE59D"/>
      </a:folHlink>
    </a:clrScheme>
    <a:fontScheme name="BCUCompSoc Cyb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BCU Computing Society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BCUCompSoc Cybersecurity Workshop 02: PCAP Analysis and Network Forensics</dc:title>
  <dc:subject>PptxGenJS Presentation</dc:subject>
  <dc:creator>BCU Computing Society</dc:creator>
  <cp:lastModifiedBy>BCU Computing Society</cp:lastModifiedBy>
  <cp:revision>1</cp:revision>
  <dcterms:created xsi:type="dcterms:W3CDTF">2026-10-20T20:47:07Z</dcterms:created>
  <dcterms:modified xsi:type="dcterms:W3CDTF">2026-10-20T20:47:07Z</dcterms:modified>
</cp:coreProperties>
</file>